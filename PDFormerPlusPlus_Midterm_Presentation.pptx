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PDFormer++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Decision-Focused Traffic Prediction &amp; Routing</a:t>
            </a:r>
            <a:br/>
            <a:r>
              <a:t>via Selective State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0"/>
                </a:solidFill>
                <a:latin typeface="Calibri"/>
              </a:defRPr>
            </a:pPr>
            <a:r>
              <a:t>DS 340W — Midterm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Rohan Gandotra  •  Spring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PART 1  — 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~5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Calibri"/>
              </a:defRPr>
            </a:pPr>
            <a:r>
              <a:t>    The Traffic Crisis  &amp;  Why Prediction Alone Isn't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Calibri"/>
              </a:defRPr>
            </a:pPr>
            <a:r>
              <a:t>    Three Key Papers That Shaped This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Calibri"/>
              </a:defRPr>
            </a:pPr>
            <a:r>
              <a:t>    Connecting the Dots → PDFormer++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Calibri"/>
              </a:defRPr>
            </a:pPr>
            <a:r>
              <a:t>PART 2  —  Methodology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566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~5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Calibri"/>
              </a:defRPr>
            </a:pPr>
            <a:r>
              <a:t>    PDFormer++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Calibri"/>
              </a:defRPr>
            </a:pPr>
            <a:r>
              <a:t>    Datasets &amp; Training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0"/>
                </a:solidFill>
                <a:latin typeface="Calibri"/>
              </a:defRPr>
            </a:pPr>
            <a:r>
              <a:t>    Current Results &amp;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Traffic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45720"/>
          </a:xfrm>
          <a:prstGeom prst="rect">
            <a:avLst/>
          </a:prstGeom>
          <a:solidFill>
            <a:srgbClr val="F4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017520" cy="25603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017520" cy="45720"/>
          </a:xfrm>
          <a:prstGeom prst="rect">
            <a:avLst/>
          </a:prstGeom>
          <a:solidFill>
            <a:srgbClr val="F4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471B5"/>
                </a:solidFill>
                <a:latin typeface="Calibri"/>
              </a:defRPr>
            </a:pPr>
            <a:r>
              <a:t>$87B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Annual cost of</a:t>
            </a:r>
            <a:br/>
            <a:r>
              <a:t>congestion in U.S.</a:t>
            </a:r>
            <a:br/>
            <a:r>
              <a:t>(INRIX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017520" cy="25603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0175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36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Average hours lost</a:t>
            </a:r>
            <a:br/>
            <a:r>
              <a:t>per commuter</a:t>
            </a:r>
            <a:br/>
            <a:r>
              <a:t>per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017520" cy="25603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301752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  <a:latin typeface="Calibri"/>
              </a:defRPr>
            </a:pPr>
            <a:r>
              <a:t>3.4B 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Wasted fuel</a:t>
            </a:r>
            <a:br/>
            <a:r>
              <a:t>annually from</a:t>
            </a:r>
            <a:br/>
            <a:r>
              <a:t>idle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"Current navigation systems predict traffic well — but still send drivers into congestion."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Gap: Prediction ≠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1B5"/>
                </a:solidFill>
                <a:latin typeface="Calibri"/>
              </a:defRPr>
            </a:pPr>
            <a:r>
              <a:t>❌  Traditional Two-Stage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Predict future traffic (optimise MAE/RMSE)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Feed predictions to a separate router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No feedback from routing → prediction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Accurate forecasts ≠ good routes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Minimises statistical error, not travel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Calibri"/>
              </a:defRPr>
            </a:pPr>
            <a:r>
              <a:t>✅  PDFormer++ (Decision-Focused)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Predict future traffic conditions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Route using predicted travel times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Backprop routing regret → prediction model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Predictions optimised FOR routing quality</a:t>
            </a:r>
          </a:p>
          <a:p>
            <a:pPr>
              <a:spcAft>
                <a:spcPts val="768"/>
              </a:spcAft>
              <a:defRPr sz="1600">
                <a:solidFill>
                  <a:srgbClr val="B0BCD0"/>
                </a:solidFill>
                <a:latin typeface="Calibri"/>
              </a:defRPr>
            </a:pPr>
            <a:r>
              <a:t>• Minimises actual routing cost (SPO+ loss)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BBF24"/>
                </a:solidFill>
                <a:latin typeface="Calibri"/>
              </a:defRPr>
            </a:pPr>
            <a:r>
              <a:t>→ Key insight: optimise predictions for the decisions they inform, not just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Paper 1: PDFormer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Calibri"/>
              </a:defRPr>
            </a:pPr>
            <a:r>
              <a:t>Propagation Delay-aware Dynamic Long-range Transformer  (AAAI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Core idea: Congestion propagates through road networks with delay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Standard Transformers treat all nodes equally — ignoring spatial structure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PDFormer introduces propagation-delay-aware attention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  → Nearby nodes influence current predictions MORE than distant ones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  → Attention bias encodes topological distance via adjacency matrix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Achieves SOTA on METR-LA (-2.8% MAE vs. prior best)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What PDFormer++ inherits: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0"/>
                </a:solidFill>
                <a:latin typeface="Calibri"/>
              </a:defRPr>
            </a:pPr>
            <a:r>
              <a:t>Propagation-delay spatial attention with learnable bias — the foundation of our spatial encoding.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Paper 2: Mamba (Selective State Spaces)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D4BF"/>
                </a:solidFill>
                <a:latin typeface="Calibri"/>
              </a:defRPr>
            </a:pPr>
            <a:r>
              <a:t>Gu &amp; Dao — Linear-Time Sequence Modeling  (NeurIPS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Problem: Transformers have O(L²) complexity — quadratic in sequence length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Mamba introduces Selective State Space Models (S6)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  → Input-dependent selection of which information to propagate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  → O(L) linear-time complexity — 5× faster than attention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Particularly suited to traffic: long sequences (288 steps/day @ 5-min)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Maintains context selectively — learns what matters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What PDFormer++ inherits: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0"/>
                </a:solidFill>
                <a:latin typeface="Calibri"/>
              </a:defRPr>
            </a:pPr>
            <a:r>
              <a:t>Mamba SSM replaces the GRU/Transformer temporal backbone — enabling efficient long-range temporal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Paper 3: SPO+ (Smart Predict-then-Optimize)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Elmachtoub &amp; Grigas — Management Science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Key insight: In predict-then-optimize, prediction error ≠ decision error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SPO+ loss computes routing regret: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  L = cost(route under predicted) − cost(route under true)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Gradient: ∂L/∂ĉ = 2(z_surrogate − z_oracle)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  → Pushes predictions toward directions that improve decisions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Provably consistent surrogate — works for any LP-solvable downstream task</a:t>
            </a:r>
          </a:p>
          <a:p>
            <a:pPr>
              <a:spcAft>
                <a:spcPts val="816"/>
              </a:spcAft>
              <a:defRPr sz="1700">
                <a:solidFill>
                  <a:srgbClr val="B0BCD0"/>
                </a:solidFill>
                <a:latin typeface="Calibri"/>
              </a:defRPr>
            </a:pPr>
            <a:r>
              <a:t>• Applied to shortest path: backprop through Dijkstra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515600" cy="10972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What PDFormer++ inherits: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0"/>
                </a:solidFill>
                <a:latin typeface="Calibri"/>
              </a:defRPr>
            </a:pPr>
            <a:r>
              <a:t>SPO+ decision-focused loss — the key contribution that unifies prediction and routing into a single end-to-end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Connecting the Dots → PDFormer++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PDFormer</a:t>
            </a:r>
            <a:br/>
            <a:r>
              <a:t>(Spatial)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Propagation-delay</a:t>
            </a:r>
            <a:br/>
            <a:r>
              <a:t>attention for</a:t>
            </a:r>
            <a:br/>
            <a:r>
              <a:t>topology-aware</a:t>
            </a:r>
            <a:br/>
            <a:r>
              <a:t>spatial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329184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Mamba</a:t>
            </a:r>
            <a:br/>
            <a:r>
              <a:t>(Temporal)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517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Selective SSM for</a:t>
            </a:r>
            <a:br/>
            <a:r>
              <a:t>O(L) efficient</a:t>
            </a:r>
            <a:br/>
            <a:r>
              <a:t>long-range temporal</a:t>
            </a:r>
            <a:br/>
            <a:r>
              <a:t>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63040"/>
            <a:ext cx="329184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SPO+</a:t>
            </a:r>
            <a:br/>
            <a:r>
              <a:t>(Decision)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517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Decision-focused</a:t>
            </a:r>
            <a:br/>
            <a:r>
              <a:t>loss that optimises</a:t>
            </a:r>
            <a:br/>
            <a:r>
              <a:t>predictions for</a:t>
            </a:r>
            <a:br/>
            <a:r>
              <a:t>routing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▼                              ▼                              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303520"/>
            <a:ext cx="7589520" cy="914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47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544068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PDFormer++  =  Unified Predict-then-Route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DD4BF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Methodology &amp;</a:t>
            </a:r>
            <a:br/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206240"/>
            <a:ext cx="210312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Architecture  •  Training  •  Datasets  • 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PDFormer++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Calibri"/>
              </a:defRPr>
            </a:pPr>
            <a:r>
              <a:t>Historical</a:t>
            </a:r>
            <a:br/>
            <a:r>
              <a:t>Traffic Data</a:t>
            </a:r>
            <a:br/>
            <a:r>
              <a:t>(B, T, N, 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508354648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55448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ENCODE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Calibri"/>
              </a:defRPr>
            </a:pPr>
            <a:r>
              <a:t>Mamba SSM</a:t>
            </a:r>
            <a:br/>
            <a:r>
              <a:t>× Spatial PD-</a:t>
            </a:r>
            <a:br/>
            <a:r>
              <a:t>Attention</a:t>
            </a:r>
            <a:br/>
            <a:r>
              <a:t>(interleaved)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08331788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55448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Calibri"/>
              </a:defRPr>
            </a:pPr>
            <a:r>
              <a:t>Speed</a:t>
            </a:r>
            <a:br/>
            <a:r>
              <a:t>Regression +</a:t>
            </a:r>
            <a:br/>
            <a:r>
              <a:t>Congestion</a:t>
            </a:r>
            <a:br/>
            <a: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508308928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55448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47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71B5"/>
                </a:solidFill>
                <a:latin typeface="Calibri"/>
              </a:defRPr>
            </a:pPr>
            <a:r>
              <a:t>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Calibri"/>
              </a:defRPr>
            </a:pPr>
            <a:r>
              <a:t>BPR / Learned</a:t>
            </a:r>
            <a:br/>
            <a:r>
              <a:t>Fundamental</a:t>
            </a:r>
            <a:br/>
            <a:r>
              <a:t>Diagram →</a:t>
            </a:r>
            <a:br/>
            <a:r>
              <a:t>Travel 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508286068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55448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0"/>
                </a:solidFill>
                <a:latin typeface="Calibri"/>
              </a:defRPr>
            </a:pPr>
            <a:r>
              <a:t>Time-Dep.</a:t>
            </a:r>
            <a:br/>
            <a:r>
              <a:t>Dijkstra →</a:t>
            </a:r>
            <a:br/>
            <a:r>
              <a:t>Optimal</a:t>
            </a:r>
            <a:br/>
            <a:r>
              <a:t>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10972800" cy="10972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⟵  SPO+ Decision-Focused Loss  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0"/>
                </a:solidFill>
                <a:latin typeface="Calibri"/>
              </a:defRPr>
            </a:pPr>
            <a:r>
              <a:t>Routing regret backpropagates through the entire pipeline: L = λ₁·MAE + λ₂·CE + λ₃·SPO+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• d_model = 64  |  n_heads = 8  |  d_state = 16 (Mamba SSM)</a:t>
            </a:r>
          </a:p>
          <a:p>
            <a:pPr>
              <a:spcAft>
                <a:spcPts val="672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• Interleaved: 2 Mamba temporal blocks × 2 spatial transformer layers</a:t>
            </a:r>
          </a:p>
          <a:p>
            <a:pPr>
              <a:spcAft>
                <a:spcPts val="672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• Multi-task: regression head + 3-class congestion classifier (free/slow/congested)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Timesteps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OD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1051560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CD0"/>
                </a:solidFill>
                <a:latin typeface="Calibri"/>
              </a:defRPr>
            </a:pPr>
            <a:r>
              <a:t>METR-LA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34,272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CD0"/>
                </a:solidFill>
                <a:latin typeface="Calibri"/>
              </a:defRPr>
            </a:pPr>
            <a:r>
              <a:t>PEMS-BAY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83463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325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52,116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83463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NYC Taxi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474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~260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Speed, Flow,</a:t>
            </a:r>
            <a:br/>
            <a:r>
              <a:t>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Calibri"/>
              </a:defRPr>
            </a:pPr>
            <a:r>
              <a:t>End-to-End</a:t>
            </a:r>
            <a:br/>
            <a:r>
              <a:t>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97680"/>
            <a:ext cx="10515600" cy="16459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NYC Taxi — Key Dataset for This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846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Includes Origin-Destination (OD) demand data — essential for realistic routing evaluation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Enables end-to-end SPO+ training: predict → convert → route → regret → backprop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Data source: NYC Taxi &amp; Limousine Commission (TLC) trip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Pipeline &amp;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Optimizer: AdamW (lr=1e-3, weight_decay=1e-4)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Scheduler: Cosine Annealing (η_min = lr × 0.01)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Epochs: 150  |  Batch size: 64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Mixed precision (AMP) on CUDA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Gradient clipping: max norm = 5.0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Loss: λ₁·MAE + λ₂·CE + λ₃·SPO+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Ablation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ablation_no_mamba: Replace Mamba with GRU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ablation_no_spo: Train without SPO+ loss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Standard METR-LA / PEMS-BAY benchmarks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NYC Taxi with full end-to-end pipeline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Compare prediction accuracy vs. routing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Prediction: MAE, RMSE, MAPE at 15/30/60 min horizons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Classification: Precision, Recall, F1 per congestion class</a:t>
            </a:r>
          </a:p>
          <a:p>
            <a:pPr>
              <a:spcAft>
                <a:spcPts val="672"/>
              </a:spcAft>
              <a:defRPr sz="1400">
                <a:solidFill>
                  <a:srgbClr val="B0BCD0"/>
                </a:solidFill>
                <a:latin typeface="Calibri"/>
              </a:defRPr>
            </a:pPr>
            <a:r>
              <a:t>• System-level: Vehicle-Hours-Traveled (VHT), Avg Network Speed, Throughput, Delay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Work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45720"/>
          </a:xfrm>
          <a:prstGeom prst="rect">
            <a:avLst/>
          </a:prstGeom>
          <a:solidFill>
            <a:srgbClr val="F4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Full Benchmark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Train &amp; evaluate on METR-LA, PEMS-BAY, and NYC Taxi.</a:t>
            </a:r>
            <a:br/>
            <a:r>
              <a:t>Compare against DCRNN, Graph WaveNet, STGCN, PDFormer baselines.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4864" cy="10058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Quantify individual contributions: Mamba vs. GRU backbone,</a:t>
            </a:r>
            <a:br/>
            <a:r>
              <a:t>with vs. without SPO+ loss, BPR vs. learned fundamental diagram.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4864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Learned Fundamental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97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Train neural volume-delay function with physics-informed</a:t>
            </a:r>
            <a:br/>
            <a:r>
              <a:t>monotonicity constraints for more flexible travel-time estimation.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12079"/>
            <a:ext cx="54864" cy="1005840"/>
          </a:xfrm>
          <a:prstGeom prst="rect">
            <a:avLst/>
          </a:prstGeom>
          <a:solidFill>
            <a:srgbClr val="F4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71B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12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Scalability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778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Calibri"/>
              </a:defRPr>
            </a:pPr>
            <a:r>
              <a:t>Test on larger networks, explore multi-OD SPO+ training,</a:t>
            </a:r>
            <a:br/>
            <a:r>
              <a:t>and validate real-world routing 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0"/>
                </a:solidFill>
                <a:latin typeface="Calibri"/>
              </a:defRPr>
            </a:pPr>
            <a:r>
              <a:t>GitHub:  github.com/&lt;your-repo&gt;/pdformer-plus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Rohan Gandotra  •  DS 340W  •  Penn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